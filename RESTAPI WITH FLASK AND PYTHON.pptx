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0" r:id="rId4"/>
    <p:sldId id="261" r:id="rId5"/>
    <p:sldId id="263" r:id="rId6"/>
    <p:sldId id="265" r:id="rId7"/>
    <p:sldId id="264" r:id="rId8"/>
    <p:sldId id="267" r:id="rId9"/>
    <p:sldId id="269" r:id="rId10"/>
    <p:sldId id="270" r:id="rId11"/>
    <p:sldId id="27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AFF36-447F-A4FD-44DB-FAB18B3F7A1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21E49FD-13D0-73F3-81CE-0B31120543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ECBB350-5E21-C9D3-3BC5-56DBB922EAD7}"/>
              </a:ext>
            </a:extLst>
          </p:cNvPr>
          <p:cNvSpPr>
            <a:spLocks noGrp="1"/>
          </p:cNvSpPr>
          <p:nvPr>
            <p:ph type="dt" sz="half" idx="10"/>
          </p:nvPr>
        </p:nvSpPr>
        <p:spPr/>
        <p:txBody>
          <a:bodyPr/>
          <a:lstStyle/>
          <a:p>
            <a:fld id="{4092CEE7-5476-4A69-9540-08EE9E332F5C}" type="datetimeFigureOut">
              <a:rPr lang="en-IN" smtClean="0"/>
              <a:t>05-07-2025</a:t>
            </a:fld>
            <a:endParaRPr lang="en-IN"/>
          </a:p>
        </p:txBody>
      </p:sp>
      <p:sp>
        <p:nvSpPr>
          <p:cNvPr id="5" name="Footer Placeholder 4">
            <a:extLst>
              <a:ext uri="{FF2B5EF4-FFF2-40B4-BE49-F238E27FC236}">
                <a16:creationId xmlns:a16="http://schemas.microsoft.com/office/drawing/2014/main" id="{A673811A-4040-941A-F671-252D9F9BC6E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9212D12-7C5E-B775-759A-4E9A421C4D46}"/>
              </a:ext>
            </a:extLst>
          </p:cNvPr>
          <p:cNvSpPr>
            <a:spLocks noGrp="1"/>
          </p:cNvSpPr>
          <p:nvPr>
            <p:ph type="sldNum" sz="quarter" idx="12"/>
          </p:nvPr>
        </p:nvSpPr>
        <p:spPr/>
        <p:txBody>
          <a:bodyPr/>
          <a:lstStyle/>
          <a:p>
            <a:fld id="{037A70A5-456C-4575-8461-C1D4B304D0C5}" type="slidenum">
              <a:rPr lang="en-IN" smtClean="0"/>
              <a:t>‹#›</a:t>
            </a:fld>
            <a:endParaRPr lang="en-IN"/>
          </a:p>
        </p:txBody>
      </p:sp>
    </p:spTree>
    <p:extLst>
      <p:ext uri="{BB962C8B-B14F-4D97-AF65-F5344CB8AC3E}">
        <p14:creationId xmlns:p14="http://schemas.microsoft.com/office/powerpoint/2010/main" val="14607464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AC808-4231-BC4C-2FDD-CBB76283DCD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F2939D8-0298-AC18-5800-CAEAD78D44F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148BF40-B416-E79B-75D5-8F6EED6CA69C}"/>
              </a:ext>
            </a:extLst>
          </p:cNvPr>
          <p:cNvSpPr>
            <a:spLocks noGrp="1"/>
          </p:cNvSpPr>
          <p:nvPr>
            <p:ph type="dt" sz="half" idx="10"/>
          </p:nvPr>
        </p:nvSpPr>
        <p:spPr/>
        <p:txBody>
          <a:bodyPr/>
          <a:lstStyle/>
          <a:p>
            <a:fld id="{4092CEE7-5476-4A69-9540-08EE9E332F5C}" type="datetimeFigureOut">
              <a:rPr lang="en-IN" smtClean="0"/>
              <a:t>05-07-2025</a:t>
            </a:fld>
            <a:endParaRPr lang="en-IN"/>
          </a:p>
        </p:txBody>
      </p:sp>
      <p:sp>
        <p:nvSpPr>
          <p:cNvPr id="5" name="Footer Placeholder 4">
            <a:extLst>
              <a:ext uri="{FF2B5EF4-FFF2-40B4-BE49-F238E27FC236}">
                <a16:creationId xmlns:a16="http://schemas.microsoft.com/office/drawing/2014/main" id="{A951EC8E-F6C9-3831-0D59-CFDA366AE7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263A2D3-CC8E-E8BE-8D90-1C1F450C3B3E}"/>
              </a:ext>
            </a:extLst>
          </p:cNvPr>
          <p:cNvSpPr>
            <a:spLocks noGrp="1"/>
          </p:cNvSpPr>
          <p:nvPr>
            <p:ph type="sldNum" sz="quarter" idx="12"/>
          </p:nvPr>
        </p:nvSpPr>
        <p:spPr/>
        <p:txBody>
          <a:bodyPr/>
          <a:lstStyle/>
          <a:p>
            <a:fld id="{037A70A5-456C-4575-8461-C1D4B304D0C5}" type="slidenum">
              <a:rPr lang="en-IN" smtClean="0"/>
              <a:t>‹#›</a:t>
            </a:fld>
            <a:endParaRPr lang="en-IN"/>
          </a:p>
        </p:txBody>
      </p:sp>
    </p:spTree>
    <p:extLst>
      <p:ext uri="{BB962C8B-B14F-4D97-AF65-F5344CB8AC3E}">
        <p14:creationId xmlns:p14="http://schemas.microsoft.com/office/powerpoint/2010/main" val="3821170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C12C0-1080-AC7B-535B-790C81B4245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2651E3A-9785-6B7E-5D76-ECB3B2263CA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FCC782-8DD6-B288-11F8-24BCB6786DE7}"/>
              </a:ext>
            </a:extLst>
          </p:cNvPr>
          <p:cNvSpPr>
            <a:spLocks noGrp="1"/>
          </p:cNvSpPr>
          <p:nvPr>
            <p:ph type="dt" sz="half" idx="10"/>
          </p:nvPr>
        </p:nvSpPr>
        <p:spPr/>
        <p:txBody>
          <a:bodyPr/>
          <a:lstStyle/>
          <a:p>
            <a:fld id="{4092CEE7-5476-4A69-9540-08EE9E332F5C}" type="datetimeFigureOut">
              <a:rPr lang="en-IN" smtClean="0"/>
              <a:t>05-07-2025</a:t>
            </a:fld>
            <a:endParaRPr lang="en-IN"/>
          </a:p>
        </p:txBody>
      </p:sp>
      <p:sp>
        <p:nvSpPr>
          <p:cNvPr id="5" name="Footer Placeholder 4">
            <a:extLst>
              <a:ext uri="{FF2B5EF4-FFF2-40B4-BE49-F238E27FC236}">
                <a16:creationId xmlns:a16="http://schemas.microsoft.com/office/drawing/2014/main" id="{C8C8BBC4-4582-73C9-85F3-0814276544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B25CA60-5F4C-1157-E637-F33EE7BE81B1}"/>
              </a:ext>
            </a:extLst>
          </p:cNvPr>
          <p:cNvSpPr>
            <a:spLocks noGrp="1"/>
          </p:cNvSpPr>
          <p:nvPr>
            <p:ph type="sldNum" sz="quarter" idx="12"/>
          </p:nvPr>
        </p:nvSpPr>
        <p:spPr/>
        <p:txBody>
          <a:bodyPr/>
          <a:lstStyle/>
          <a:p>
            <a:fld id="{037A70A5-456C-4575-8461-C1D4B304D0C5}" type="slidenum">
              <a:rPr lang="en-IN" smtClean="0"/>
              <a:t>‹#›</a:t>
            </a:fld>
            <a:endParaRPr lang="en-IN"/>
          </a:p>
        </p:txBody>
      </p:sp>
    </p:spTree>
    <p:extLst>
      <p:ext uri="{BB962C8B-B14F-4D97-AF65-F5344CB8AC3E}">
        <p14:creationId xmlns:p14="http://schemas.microsoft.com/office/powerpoint/2010/main" val="4029930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1B839-C935-4EB6-42ED-9FD7E6ED164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94B46F5-1D2B-BCBF-4965-34C789865CF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7CEF615-D6AE-5C20-5494-1A1D827FDC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E37F3F3-BEDB-C21D-4029-F623D6755E7F}"/>
              </a:ext>
            </a:extLst>
          </p:cNvPr>
          <p:cNvSpPr>
            <a:spLocks noGrp="1"/>
          </p:cNvSpPr>
          <p:nvPr>
            <p:ph type="dt" sz="half" idx="10"/>
          </p:nvPr>
        </p:nvSpPr>
        <p:spPr/>
        <p:txBody>
          <a:bodyPr/>
          <a:lstStyle/>
          <a:p>
            <a:fld id="{4092CEE7-5476-4A69-9540-08EE9E332F5C}" type="datetimeFigureOut">
              <a:rPr lang="en-IN" smtClean="0"/>
              <a:t>05-07-2025</a:t>
            </a:fld>
            <a:endParaRPr lang="en-IN"/>
          </a:p>
        </p:txBody>
      </p:sp>
      <p:sp>
        <p:nvSpPr>
          <p:cNvPr id="6" name="Footer Placeholder 5">
            <a:extLst>
              <a:ext uri="{FF2B5EF4-FFF2-40B4-BE49-F238E27FC236}">
                <a16:creationId xmlns:a16="http://schemas.microsoft.com/office/drawing/2014/main" id="{C854222B-F776-A16A-61FC-E0D31C672C7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A20C6BE-4323-4116-507E-E28B21E37E72}"/>
              </a:ext>
            </a:extLst>
          </p:cNvPr>
          <p:cNvSpPr>
            <a:spLocks noGrp="1"/>
          </p:cNvSpPr>
          <p:nvPr>
            <p:ph type="sldNum" sz="quarter" idx="12"/>
          </p:nvPr>
        </p:nvSpPr>
        <p:spPr/>
        <p:txBody>
          <a:bodyPr/>
          <a:lstStyle/>
          <a:p>
            <a:fld id="{037A70A5-456C-4575-8461-C1D4B304D0C5}" type="slidenum">
              <a:rPr lang="en-IN" smtClean="0"/>
              <a:t>‹#›</a:t>
            </a:fld>
            <a:endParaRPr lang="en-IN"/>
          </a:p>
        </p:txBody>
      </p:sp>
    </p:spTree>
    <p:extLst>
      <p:ext uri="{BB962C8B-B14F-4D97-AF65-F5344CB8AC3E}">
        <p14:creationId xmlns:p14="http://schemas.microsoft.com/office/powerpoint/2010/main" val="33370022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C2CE5-C458-57FE-971D-2044162525F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A402EAA-D9BF-AEF2-C0C5-5774E23507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68A5EC8-DAFA-022A-3FF5-45F2A3F9805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62C56AD-FCCE-64DB-7FFD-1DE5BE4534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4FF9CD7-C41C-AA2C-DB94-51E88557302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4EC4472-629A-53C8-F3E0-3D37A83A340A}"/>
              </a:ext>
            </a:extLst>
          </p:cNvPr>
          <p:cNvSpPr>
            <a:spLocks noGrp="1"/>
          </p:cNvSpPr>
          <p:nvPr>
            <p:ph type="dt" sz="half" idx="10"/>
          </p:nvPr>
        </p:nvSpPr>
        <p:spPr/>
        <p:txBody>
          <a:bodyPr/>
          <a:lstStyle/>
          <a:p>
            <a:fld id="{4092CEE7-5476-4A69-9540-08EE9E332F5C}" type="datetimeFigureOut">
              <a:rPr lang="en-IN" smtClean="0"/>
              <a:t>05-07-2025</a:t>
            </a:fld>
            <a:endParaRPr lang="en-IN"/>
          </a:p>
        </p:txBody>
      </p:sp>
      <p:sp>
        <p:nvSpPr>
          <p:cNvPr id="8" name="Footer Placeholder 7">
            <a:extLst>
              <a:ext uri="{FF2B5EF4-FFF2-40B4-BE49-F238E27FC236}">
                <a16:creationId xmlns:a16="http://schemas.microsoft.com/office/drawing/2014/main" id="{83ABA06D-C07E-D413-693A-C3C803C6F5D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0098263-329D-5C0B-3FB4-0646616BE9C2}"/>
              </a:ext>
            </a:extLst>
          </p:cNvPr>
          <p:cNvSpPr>
            <a:spLocks noGrp="1"/>
          </p:cNvSpPr>
          <p:nvPr>
            <p:ph type="sldNum" sz="quarter" idx="12"/>
          </p:nvPr>
        </p:nvSpPr>
        <p:spPr/>
        <p:txBody>
          <a:bodyPr/>
          <a:lstStyle/>
          <a:p>
            <a:fld id="{037A70A5-456C-4575-8461-C1D4B304D0C5}" type="slidenum">
              <a:rPr lang="en-IN" smtClean="0"/>
              <a:t>‹#›</a:t>
            </a:fld>
            <a:endParaRPr lang="en-IN"/>
          </a:p>
        </p:txBody>
      </p:sp>
    </p:spTree>
    <p:extLst>
      <p:ext uri="{BB962C8B-B14F-4D97-AF65-F5344CB8AC3E}">
        <p14:creationId xmlns:p14="http://schemas.microsoft.com/office/powerpoint/2010/main" val="12063552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CC223-5616-3976-2774-BE5A26F4EDF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A632FBE-2331-30B7-CCEF-131EDCDC21D8}"/>
              </a:ext>
            </a:extLst>
          </p:cNvPr>
          <p:cNvSpPr>
            <a:spLocks noGrp="1"/>
          </p:cNvSpPr>
          <p:nvPr>
            <p:ph type="dt" sz="half" idx="10"/>
          </p:nvPr>
        </p:nvSpPr>
        <p:spPr/>
        <p:txBody>
          <a:bodyPr/>
          <a:lstStyle/>
          <a:p>
            <a:fld id="{4092CEE7-5476-4A69-9540-08EE9E332F5C}" type="datetimeFigureOut">
              <a:rPr lang="en-IN" smtClean="0"/>
              <a:t>05-07-2025</a:t>
            </a:fld>
            <a:endParaRPr lang="en-IN"/>
          </a:p>
        </p:txBody>
      </p:sp>
      <p:sp>
        <p:nvSpPr>
          <p:cNvPr id="4" name="Footer Placeholder 3">
            <a:extLst>
              <a:ext uri="{FF2B5EF4-FFF2-40B4-BE49-F238E27FC236}">
                <a16:creationId xmlns:a16="http://schemas.microsoft.com/office/drawing/2014/main" id="{2EAC5642-7F68-A160-F173-C563B6A9A5A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DAF460D-43D6-BF0A-9A09-95A1C7B8870A}"/>
              </a:ext>
            </a:extLst>
          </p:cNvPr>
          <p:cNvSpPr>
            <a:spLocks noGrp="1"/>
          </p:cNvSpPr>
          <p:nvPr>
            <p:ph type="sldNum" sz="quarter" idx="12"/>
          </p:nvPr>
        </p:nvSpPr>
        <p:spPr/>
        <p:txBody>
          <a:bodyPr/>
          <a:lstStyle/>
          <a:p>
            <a:fld id="{037A70A5-456C-4575-8461-C1D4B304D0C5}" type="slidenum">
              <a:rPr lang="en-IN" smtClean="0"/>
              <a:t>‹#›</a:t>
            </a:fld>
            <a:endParaRPr lang="en-IN"/>
          </a:p>
        </p:txBody>
      </p:sp>
    </p:spTree>
    <p:extLst>
      <p:ext uri="{BB962C8B-B14F-4D97-AF65-F5344CB8AC3E}">
        <p14:creationId xmlns:p14="http://schemas.microsoft.com/office/powerpoint/2010/main" val="41257327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C6C477-1D9C-4EB7-DFB4-47895D2074F0}"/>
              </a:ext>
            </a:extLst>
          </p:cNvPr>
          <p:cNvSpPr>
            <a:spLocks noGrp="1"/>
          </p:cNvSpPr>
          <p:nvPr>
            <p:ph type="dt" sz="half" idx="10"/>
          </p:nvPr>
        </p:nvSpPr>
        <p:spPr/>
        <p:txBody>
          <a:bodyPr/>
          <a:lstStyle/>
          <a:p>
            <a:fld id="{4092CEE7-5476-4A69-9540-08EE9E332F5C}" type="datetimeFigureOut">
              <a:rPr lang="en-IN" smtClean="0"/>
              <a:t>05-07-2025</a:t>
            </a:fld>
            <a:endParaRPr lang="en-IN"/>
          </a:p>
        </p:txBody>
      </p:sp>
      <p:sp>
        <p:nvSpPr>
          <p:cNvPr id="3" name="Footer Placeholder 2">
            <a:extLst>
              <a:ext uri="{FF2B5EF4-FFF2-40B4-BE49-F238E27FC236}">
                <a16:creationId xmlns:a16="http://schemas.microsoft.com/office/drawing/2014/main" id="{AF69ADF7-FD2C-0D37-3363-5A01DE8E595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CA2BC8D-CBA1-8137-365D-FD70520367F4}"/>
              </a:ext>
            </a:extLst>
          </p:cNvPr>
          <p:cNvSpPr>
            <a:spLocks noGrp="1"/>
          </p:cNvSpPr>
          <p:nvPr>
            <p:ph type="sldNum" sz="quarter" idx="12"/>
          </p:nvPr>
        </p:nvSpPr>
        <p:spPr/>
        <p:txBody>
          <a:bodyPr/>
          <a:lstStyle/>
          <a:p>
            <a:fld id="{037A70A5-456C-4575-8461-C1D4B304D0C5}" type="slidenum">
              <a:rPr lang="en-IN" smtClean="0"/>
              <a:t>‹#›</a:t>
            </a:fld>
            <a:endParaRPr lang="en-IN"/>
          </a:p>
        </p:txBody>
      </p:sp>
    </p:spTree>
    <p:extLst>
      <p:ext uri="{BB962C8B-B14F-4D97-AF65-F5344CB8AC3E}">
        <p14:creationId xmlns:p14="http://schemas.microsoft.com/office/powerpoint/2010/main" val="4206730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F9F9F-B192-5980-5217-F2A1A64184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6B79257-57B3-7E50-D828-1C2B0A5AF9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5265F93-92A4-C031-8BE2-2562BB1E37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49C1EE-6E6C-798A-ADA5-CCF3A4B3A3F3}"/>
              </a:ext>
            </a:extLst>
          </p:cNvPr>
          <p:cNvSpPr>
            <a:spLocks noGrp="1"/>
          </p:cNvSpPr>
          <p:nvPr>
            <p:ph type="dt" sz="half" idx="10"/>
          </p:nvPr>
        </p:nvSpPr>
        <p:spPr/>
        <p:txBody>
          <a:bodyPr/>
          <a:lstStyle/>
          <a:p>
            <a:fld id="{4092CEE7-5476-4A69-9540-08EE9E332F5C}" type="datetimeFigureOut">
              <a:rPr lang="en-IN" smtClean="0"/>
              <a:t>05-07-2025</a:t>
            </a:fld>
            <a:endParaRPr lang="en-IN"/>
          </a:p>
        </p:txBody>
      </p:sp>
      <p:sp>
        <p:nvSpPr>
          <p:cNvPr id="6" name="Footer Placeholder 5">
            <a:extLst>
              <a:ext uri="{FF2B5EF4-FFF2-40B4-BE49-F238E27FC236}">
                <a16:creationId xmlns:a16="http://schemas.microsoft.com/office/drawing/2014/main" id="{38F17624-75B6-473E-708D-DB019186808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ACDDC43-D4F8-5348-8FDB-F34176BD729E}"/>
              </a:ext>
            </a:extLst>
          </p:cNvPr>
          <p:cNvSpPr>
            <a:spLocks noGrp="1"/>
          </p:cNvSpPr>
          <p:nvPr>
            <p:ph type="sldNum" sz="quarter" idx="12"/>
          </p:nvPr>
        </p:nvSpPr>
        <p:spPr/>
        <p:txBody>
          <a:bodyPr/>
          <a:lstStyle/>
          <a:p>
            <a:fld id="{037A70A5-456C-4575-8461-C1D4B304D0C5}" type="slidenum">
              <a:rPr lang="en-IN" smtClean="0"/>
              <a:t>‹#›</a:t>
            </a:fld>
            <a:endParaRPr lang="en-IN"/>
          </a:p>
        </p:txBody>
      </p:sp>
    </p:spTree>
    <p:extLst>
      <p:ext uri="{BB962C8B-B14F-4D97-AF65-F5344CB8AC3E}">
        <p14:creationId xmlns:p14="http://schemas.microsoft.com/office/powerpoint/2010/main" val="42808846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43B11-D066-0A09-C4FE-323EA1318D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8481E95-894E-3DDB-DB07-84F0635DD82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BC23315-B7F4-6002-6F30-BF6051C7FC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A8BD18-6459-B6BA-0EBB-0DDEE7F655AF}"/>
              </a:ext>
            </a:extLst>
          </p:cNvPr>
          <p:cNvSpPr>
            <a:spLocks noGrp="1"/>
          </p:cNvSpPr>
          <p:nvPr>
            <p:ph type="dt" sz="half" idx="10"/>
          </p:nvPr>
        </p:nvSpPr>
        <p:spPr/>
        <p:txBody>
          <a:bodyPr/>
          <a:lstStyle/>
          <a:p>
            <a:fld id="{4092CEE7-5476-4A69-9540-08EE9E332F5C}" type="datetimeFigureOut">
              <a:rPr lang="en-IN" smtClean="0"/>
              <a:t>05-07-2025</a:t>
            </a:fld>
            <a:endParaRPr lang="en-IN"/>
          </a:p>
        </p:txBody>
      </p:sp>
      <p:sp>
        <p:nvSpPr>
          <p:cNvPr id="6" name="Footer Placeholder 5">
            <a:extLst>
              <a:ext uri="{FF2B5EF4-FFF2-40B4-BE49-F238E27FC236}">
                <a16:creationId xmlns:a16="http://schemas.microsoft.com/office/drawing/2014/main" id="{D776518F-B7AC-55C7-919A-FC95922020E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A477B63-F28F-34B9-5F6E-88E98F8E22E8}"/>
              </a:ext>
            </a:extLst>
          </p:cNvPr>
          <p:cNvSpPr>
            <a:spLocks noGrp="1"/>
          </p:cNvSpPr>
          <p:nvPr>
            <p:ph type="sldNum" sz="quarter" idx="12"/>
          </p:nvPr>
        </p:nvSpPr>
        <p:spPr/>
        <p:txBody>
          <a:bodyPr/>
          <a:lstStyle/>
          <a:p>
            <a:fld id="{037A70A5-456C-4575-8461-C1D4B304D0C5}" type="slidenum">
              <a:rPr lang="en-IN" smtClean="0"/>
              <a:t>‹#›</a:t>
            </a:fld>
            <a:endParaRPr lang="en-IN"/>
          </a:p>
        </p:txBody>
      </p:sp>
    </p:spTree>
    <p:extLst>
      <p:ext uri="{BB962C8B-B14F-4D97-AF65-F5344CB8AC3E}">
        <p14:creationId xmlns:p14="http://schemas.microsoft.com/office/powerpoint/2010/main" val="5124833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23881-BDDA-75F5-13E5-A6ABAAFF799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4FE7924-B088-6395-803D-54616A1A134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0E4D4F8-EEE5-6AFA-3B6E-A1E4CA83FDD9}"/>
              </a:ext>
            </a:extLst>
          </p:cNvPr>
          <p:cNvSpPr>
            <a:spLocks noGrp="1"/>
          </p:cNvSpPr>
          <p:nvPr>
            <p:ph type="dt" sz="half" idx="10"/>
          </p:nvPr>
        </p:nvSpPr>
        <p:spPr/>
        <p:txBody>
          <a:bodyPr/>
          <a:lstStyle/>
          <a:p>
            <a:fld id="{4092CEE7-5476-4A69-9540-08EE9E332F5C}" type="datetimeFigureOut">
              <a:rPr lang="en-IN" smtClean="0"/>
              <a:t>05-07-2025</a:t>
            </a:fld>
            <a:endParaRPr lang="en-IN"/>
          </a:p>
        </p:txBody>
      </p:sp>
      <p:sp>
        <p:nvSpPr>
          <p:cNvPr id="5" name="Footer Placeholder 4">
            <a:extLst>
              <a:ext uri="{FF2B5EF4-FFF2-40B4-BE49-F238E27FC236}">
                <a16:creationId xmlns:a16="http://schemas.microsoft.com/office/drawing/2014/main" id="{91E6B7E8-9877-3F08-F27C-1BCC9D71D7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ABA8A8-58F8-401F-8A18-2CBD04178D79}"/>
              </a:ext>
            </a:extLst>
          </p:cNvPr>
          <p:cNvSpPr>
            <a:spLocks noGrp="1"/>
          </p:cNvSpPr>
          <p:nvPr>
            <p:ph type="sldNum" sz="quarter" idx="12"/>
          </p:nvPr>
        </p:nvSpPr>
        <p:spPr/>
        <p:txBody>
          <a:bodyPr/>
          <a:lstStyle/>
          <a:p>
            <a:fld id="{037A70A5-456C-4575-8461-C1D4B304D0C5}" type="slidenum">
              <a:rPr lang="en-IN" smtClean="0"/>
              <a:t>‹#›</a:t>
            </a:fld>
            <a:endParaRPr lang="en-IN"/>
          </a:p>
        </p:txBody>
      </p:sp>
    </p:spTree>
    <p:extLst>
      <p:ext uri="{BB962C8B-B14F-4D97-AF65-F5344CB8AC3E}">
        <p14:creationId xmlns:p14="http://schemas.microsoft.com/office/powerpoint/2010/main" val="14135819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40CC2F0-694E-382C-3042-888B40F9407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6DE1DFF-41C0-8A86-DA7A-C8BFE7E3128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818122-1259-8402-4401-BCE9BA0EB52E}"/>
              </a:ext>
            </a:extLst>
          </p:cNvPr>
          <p:cNvSpPr>
            <a:spLocks noGrp="1"/>
          </p:cNvSpPr>
          <p:nvPr>
            <p:ph type="dt" sz="half" idx="10"/>
          </p:nvPr>
        </p:nvSpPr>
        <p:spPr/>
        <p:txBody>
          <a:bodyPr/>
          <a:lstStyle/>
          <a:p>
            <a:fld id="{4092CEE7-5476-4A69-9540-08EE9E332F5C}" type="datetimeFigureOut">
              <a:rPr lang="en-IN" smtClean="0"/>
              <a:t>05-07-2025</a:t>
            </a:fld>
            <a:endParaRPr lang="en-IN"/>
          </a:p>
        </p:txBody>
      </p:sp>
      <p:sp>
        <p:nvSpPr>
          <p:cNvPr id="5" name="Footer Placeholder 4">
            <a:extLst>
              <a:ext uri="{FF2B5EF4-FFF2-40B4-BE49-F238E27FC236}">
                <a16:creationId xmlns:a16="http://schemas.microsoft.com/office/drawing/2014/main" id="{B12FC8FE-762D-B8CB-2024-335224EA8F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715DCA-0A4D-03AA-2CED-EF5D1DC5DB16}"/>
              </a:ext>
            </a:extLst>
          </p:cNvPr>
          <p:cNvSpPr>
            <a:spLocks noGrp="1"/>
          </p:cNvSpPr>
          <p:nvPr>
            <p:ph type="sldNum" sz="quarter" idx="12"/>
          </p:nvPr>
        </p:nvSpPr>
        <p:spPr/>
        <p:txBody>
          <a:bodyPr/>
          <a:lstStyle/>
          <a:p>
            <a:fld id="{037A70A5-456C-4575-8461-C1D4B304D0C5}" type="slidenum">
              <a:rPr lang="en-IN" smtClean="0"/>
              <a:t>‹#›</a:t>
            </a:fld>
            <a:endParaRPr lang="en-IN"/>
          </a:p>
        </p:txBody>
      </p:sp>
    </p:spTree>
    <p:extLst>
      <p:ext uri="{BB962C8B-B14F-4D97-AF65-F5344CB8AC3E}">
        <p14:creationId xmlns:p14="http://schemas.microsoft.com/office/powerpoint/2010/main" val="3469942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9E8C55-FD7C-5207-046A-70C75D260B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5C003B1-F2CE-AC9B-B0FC-9404C62B90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495DA3C-0489-4272-3AE6-ADAA9ECE24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92CEE7-5476-4A69-9540-08EE9E332F5C}" type="datetimeFigureOut">
              <a:rPr lang="en-IN" smtClean="0"/>
              <a:t>05-07-2025</a:t>
            </a:fld>
            <a:endParaRPr lang="en-IN"/>
          </a:p>
        </p:txBody>
      </p:sp>
      <p:sp>
        <p:nvSpPr>
          <p:cNvPr id="5" name="Footer Placeholder 4">
            <a:extLst>
              <a:ext uri="{FF2B5EF4-FFF2-40B4-BE49-F238E27FC236}">
                <a16:creationId xmlns:a16="http://schemas.microsoft.com/office/drawing/2014/main" id="{6C3CE7CF-AC38-23C3-28B7-6639D5AD40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35A15D3-2EE5-510E-62E7-D54CD858B1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37A70A5-456C-4575-8461-C1D4B304D0C5}" type="slidenum">
              <a:rPr lang="en-IN" smtClean="0"/>
              <a:t>‹#›</a:t>
            </a:fld>
            <a:endParaRPr lang="en-IN"/>
          </a:p>
        </p:txBody>
      </p:sp>
    </p:spTree>
    <p:extLst>
      <p:ext uri="{BB962C8B-B14F-4D97-AF65-F5344CB8AC3E}">
        <p14:creationId xmlns:p14="http://schemas.microsoft.com/office/powerpoint/2010/main" val="40572551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12" name="Freeform: Shape 11">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F70E3192-6C7A-CA62-4155-1720999D7E79}"/>
              </a:ext>
            </a:extLst>
          </p:cNvPr>
          <p:cNvSpPr>
            <a:spLocks noGrp="1"/>
          </p:cNvSpPr>
          <p:nvPr>
            <p:ph type="ctrTitle"/>
          </p:nvPr>
        </p:nvSpPr>
        <p:spPr>
          <a:xfrm>
            <a:off x="3502731" y="1542402"/>
            <a:ext cx="6182996" cy="2387918"/>
          </a:xfrm>
        </p:spPr>
        <p:txBody>
          <a:bodyPr anchor="b">
            <a:normAutofit/>
          </a:bodyPr>
          <a:lstStyle/>
          <a:p>
            <a:r>
              <a:rPr lang="en-US" sz="5200" dirty="0">
                <a:solidFill>
                  <a:schemeClr val="tx2"/>
                </a:solidFill>
              </a:rPr>
              <a:t>Building REST APIs with </a:t>
            </a:r>
            <a:br>
              <a:rPr lang="en-US" sz="5200" dirty="0">
                <a:solidFill>
                  <a:schemeClr val="tx2"/>
                </a:solidFill>
              </a:rPr>
            </a:br>
            <a:r>
              <a:rPr lang="en-US" sz="5200" dirty="0">
                <a:solidFill>
                  <a:schemeClr val="tx2"/>
                </a:solidFill>
              </a:rPr>
              <a:t>Python &amp; Flask</a:t>
            </a:r>
            <a:endParaRPr lang="en-IN" sz="5200" dirty="0">
              <a:solidFill>
                <a:schemeClr val="tx2"/>
              </a:solidFill>
            </a:endParaRPr>
          </a:p>
        </p:txBody>
      </p:sp>
      <p:sp>
        <p:nvSpPr>
          <p:cNvPr id="3" name="Subtitle 2">
            <a:extLst>
              <a:ext uri="{FF2B5EF4-FFF2-40B4-BE49-F238E27FC236}">
                <a16:creationId xmlns:a16="http://schemas.microsoft.com/office/drawing/2014/main" id="{1C5CDEC0-57AD-1C0A-F7D8-36769D4DF8EE}"/>
              </a:ext>
            </a:extLst>
          </p:cNvPr>
          <p:cNvSpPr>
            <a:spLocks noGrp="1"/>
          </p:cNvSpPr>
          <p:nvPr>
            <p:ph type="subTitle" idx="1"/>
          </p:nvPr>
        </p:nvSpPr>
        <p:spPr>
          <a:xfrm>
            <a:off x="3502135" y="4001587"/>
            <a:ext cx="5188034" cy="682079"/>
          </a:xfrm>
        </p:spPr>
        <p:txBody>
          <a:bodyPr>
            <a:normAutofit fontScale="92500"/>
          </a:bodyPr>
          <a:lstStyle/>
          <a:p>
            <a:r>
              <a:rPr lang="en-US" dirty="0">
                <a:solidFill>
                  <a:schemeClr val="tx2"/>
                </a:solidFill>
              </a:rPr>
              <a:t>              SERAVANA KUMAR POTHUKUCHI</a:t>
            </a:r>
            <a:endParaRPr lang="en-IN" dirty="0">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extBox 4">
            <a:extLst>
              <a:ext uri="{FF2B5EF4-FFF2-40B4-BE49-F238E27FC236}">
                <a16:creationId xmlns:a16="http://schemas.microsoft.com/office/drawing/2014/main" id="{B5CC3571-8438-1CC0-B3E2-1E0323B3007C}"/>
              </a:ext>
            </a:extLst>
          </p:cNvPr>
          <p:cNvSpPr txBox="1"/>
          <p:nvPr/>
        </p:nvSpPr>
        <p:spPr>
          <a:xfrm>
            <a:off x="3050722" y="3244334"/>
            <a:ext cx="6101442" cy="369332"/>
          </a:xfrm>
          <a:prstGeom prst="rect">
            <a:avLst/>
          </a:prstGeom>
          <a:noFill/>
        </p:spPr>
        <p:txBody>
          <a:bodyPr wrap="square">
            <a:spAutoFit/>
          </a:bodyPr>
          <a:lstStyle/>
          <a:p>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IN" dirty="0"/>
          </a:p>
        </p:txBody>
      </p:sp>
    </p:spTree>
    <p:extLst>
      <p:ext uri="{BB962C8B-B14F-4D97-AF65-F5344CB8AC3E}">
        <p14:creationId xmlns:p14="http://schemas.microsoft.com/office/powerpoint/2010/main" val="36721292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012E0-CBA1-BAB5-D1A3-19F77916CC66}"/>
              </a:ext>
            </a:extLst>
          </p:cNvPr>
          <p:cNvSpPr>
            <a:spLocks noGrp="1"/>
          </p:cNvSpPr>
          <p:nvPr>
            <p:ph type="title"/>
          </p:nvPr>
        </p:nvSpPr>
        <p:spPr/>
        <p:txBody>
          <a:bodyPr/>
          <a:lstStyle/>
          <a:p>
            <a:r>
              <a:rPr lang="en-US" dirty="0"/>
              <a:t>Overview</a:t>
            </a:r>
            <a:endParaRPr lang="en-IN" dirty="0"/>
          </a:p>
        </p:txBody>
      </p:sp>
      <p:sp>
        <p:nvSpPr>
          <p:cNvPr id="3" name="Content Placeholder 2">
            <a:extLst>
              <a:ext uri="{FF2B5EF4-FFF2-40B4-BE49-F238E27FC236}">
                <a16:creationId xmlns:a16="http://schemas.microsoft.com/office/drawing/2014/main" id="{804B5AB8-B1A0-66F5-3E79-FDD905969452}"/>
              </a:ext>
            </a:extLst>
          </p:cNvPr>
          <p:cNvSpPr>
            <a:spLocks noGrp="1"/>
          </p:cNvSpPr>
          <p:nvPr>
            <p:ph sz="half" idx="1"/>
          </p:nvPr>
        </p:nvSpPr>
        <p:spPr/>
        <p:txBody>
          <a:bodyPr/>
          <a:lstStyle/>
          <a:p>
            <a:r>
              <a:rPr lang="en-US" sz="2400" dirty="0"/>
              <a:t>What is Restful API</a:t>
            </a:r>
          </a:p>
          <a:p>
            <a:r>
              <a:rPr lang="en-US" sz="2400" dirty="0"/>
              <a:t>Features of Restful API</a:t>
            </a:r>
          </a:p>
          <a:p>
            <a:r>
              <a:rPr lang="en-US" sz="2400" dirty="0"/>
              <a:t>Python and Flask for APIs</a:t>
            </a:r>
          </a:p>
          <a:p>
            <a:r>
              <a:rPr lang="en-US" sz="2400" dirty="0"/>
              <a:t>Testing Restful APIs</a:t>
            </a:r>
            <a:endParaRPr lang="en-IN" sz="2400" dirty="0"/>
          </a:p>
          <a:p>
            <a:pPr marL="0" indent="0">
              <a:buNone/>
            </a:pPr>
            <a:endParaRPr lang="en-IN" dirty="0"/>
          </a:p>
        </p:txBody>
      </p:sp>
      <p:sp>
        <p:nvSpPr>
          <p:cNvPr id="4" name="Content Placeholder 3">
            <a:extLst>
              <a:ext uri="{FF2B5EF4-FFF2-40B4-BE49-F238E27FC236}">
                <a16:creationId xmlns:a16="http://schemas.microsoft.com/office/drawing/2014/main" id="{C4CE51AD-6CB2-3523-9C2A-AD7C9BBB5410}"/>
              </a:ext>
            </a:extLst>
          </p:cNvPr>
          <p:cNvSpPr>
            <a:spLocks noGrp="1"/>
          </p:cNvSpPr>
          <p:nvPr>
            <p:ph sz="half" idx="2"/>
          </p:nvPr>
        </p:nvSpPr>
        <p:spPr/>
        <p:txBody>
          <a:bodyPr/>
          <a:lstStyle/>
          <a:p>
            <a:r>
              <a:rPr lang="en-US" sz="2400" dirty="0"/>
              <a:t>Real Time App – Employee Directory</a:t>
            </a:r>
          </a:p>
          <a:p>
            <a:pPr lvl="1"/>
            <a:r>
              <a:rPr lang="en-US" sz="2000" dirty="0"/>
              <a:t>Application Architecture</a:t>
            </a:r>
          </a:p>
          <a:p>
            <a:pPr lvl="1"/>
            <a:r>
              <a:rPr lang="en-US" sz="2000" dirty="0"/>
              <a:t>Setting Up Environment</a:t>
            </a:r>
          </a:p>
          <a:p>
            <a:pPr lvl="1"/>
            <a:r>
              <a:rPr lang="en-US" sz="2000" dirty="0"/>
              <a:t>Creating Endpoints Template</a:t>
            </a:r>
          </a:p>
          <a:p>
            <a:pPr lvl="1"/>
            <a:r>
              <a:rPr lang="en-US" sz="2000" dirty="0"/>
              <a:t>Database Integration</a:t>
            </a:r>
          </a:p>
          <a:p>
            <a:pPr lvl="1"/>
            <a:r>
              <a:rPr lang="en-US" sz="2000" dirty="0"/>
              <a:t>Business logic</a:t>
            </a:r>
          </a:p>
          <a:p>
            <a:pPr marL="0" indent="0">
              <a:buNone/>
            </a:pPr>
            <a:r>
              <a:rPr lang="en-US" dirty="0"/>
              <a:t>	</a:t>
            </a:r>
            <a:endParaRPr lang="en-IN" dirty="0"/>
          </a:p>
        </p:txBody>
      </p:sp>
    </p:spTree>
    <p:extLst>
      <p:ext uri="{BB962C8B-B14F-4D97-AF65-F5344CB8AC3E}">
        <p14:creationId xmlns:p14="http://schemas.microsoft.com/office/powerpoint/2010/main" val="11730225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3A323-7EEF-B690-2D87-878646E3DF95}"/>
              </a:ext>
            </a:extLst>
          </p:cNvPr>
          <p:cNvSpPr>
            <a:spLocks noGrp="1"/>
          </p:cNvSpPr>
          <p:nvPr>
            <p:ph type="title"/>
          </p:nvPr>
        </p:nvSpPr>
        <p:spPr/>
        <p:txBody>
          <a:bodyPr/>
          <a:lstStyle/>
          <a:p>
            <a:pPr algn="ctr"/>
            <a:r>
              <a:rPr lang="en-US" dirty="0"/>
              <a:t>What is Restful API</a:t>
            </a:r>
            <a:endParaRPr lang="en-IN" dirty="0"/>
          </a:p>
        </p:txBody>
      </p:sp>
      <p:sp>
        <p:nvSpPr>
          <p:cNvPr id="3" name="Content Placeholder 2">
            <a:extLst>
              <a:ext uri="{FF2B5EF4-FFF2-40B4-BE49-F238E27FC236}">
                <a16:creationId xmlns:a16="http://schemas.microsoft.com/office/drawing/2014/main" id="{B0DD6B80-31B6-EF7E-B581-BE665FE9035A}"/>
              </a:ext>
            </a:extLst>
          </p:cNvPr>
          <p:cNvSpPr>
            <a:spLocks noGrp="1"/>
          </p:cNvSpPr>
          <p:nvPr>
            <p:ph idx="1"/>
          </p:nvPr>
        </p:nvSpPr>
        <p:spPr/>
        <p:txBody>
          <a:bodyPr>
            <a:normAutofit/>
          </a:bodyPr>
          <a:lstStyle/>
          <a:p>
            <a:r>
              <a:rPr lang="en-US" sz="2400" dirty="0"/>
              <a:t>A RESTful API(Representation State Transfer API) is an application programming interface that adheres to the principles and constraints of REST architecture. It is used to enable communication between client and server over HTTP.</a:t>
            </a:r>
          </a:p>
          <a:p>
            <a:r>
              <a:rPr lang="en-US" sz="2400" dirty="0"/>
              <a:t>Benefits:</a:t>
            </a:r>
          </a:p>
          <a:p>
            <a:pPr lvl="1"/>
            <a:r>
              <a:rPr lang="en-US" sz="2000" dirty="0"/>
              <a:t>Scalability</a:t>
            </a:r>
          </a:p>
          <a:p>
            <a:pPr lvl="1"/>
            <a:r>
              <a:rPr lang="en-US" sz="2000" dirty="0"/>
              <a:t>Simplicity</a:t>
            </a:r>
          </a:p>
          <a:p>
            <a:pPr lvl="1"/>
            <a:r>
              <a:rPr lang="en-US" sz="2000" dirty="0"/>
              <a:t>Caching support</a:t>
            </a:r>
          </a:p>
          <a:p>
            <a:pPr lvl="1"/>
            <a:r>
              <a:rPr lang="en-US" sz="2000" dirty="0"/>
              <a:t>Platform and language independence</a:t>
            </a:r>
            <a:endParaRPr lang="en-IN" sz="2000" dirty="0"/>
          </a:p>
        </p:txBody>
      </p:sp>
    </p:spTree>
    <p:extLst>
      <p:ext uri="{BB962C8B-B14F-4D97-AF65-F5344CB8AC3E}">
        <p14:creationId xmlns:p14="http://schemas.microsoft.com/office/powerpoint/2010/main" val="21950693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0B2EA-3D30-F1D7-AC7F-3055DCFA9E41}"/>
              </a:ext>
            </a:extLst>
          </p:cNvPr>
          <p:cNvSpPr>
            <a:spLocks noGrp="1"/>
          </p:cNvSpPr>
          <p:nvPr>
            <p:ph type="title"/>
          </p:nvPr>
        </p:nvSpPr>
        <p:spPr/>
        <p:txBody>
          <a:bodyPr/>
          <a:lstStyle/>
          <a:p>
            <a:pPr algn="ctr"/>
            <a:r>
              <a:rPr lang="en-US" dirty="0"/>
              <a:t>Features of Restful API</a:t>
            </a:r>
            <a:endParaRPr lang="en-IN" dirty="0"/>
          </a:p>
        </p:txBody>
      </p:sp>
      <p:sp>
        <p:nvSpPr>
          <p:cNvPr id="3" name="Content Placeholder 2">
            <a:extLst>
              <a:ext uri="{FF2B5EF4-FFF2-40B4-BE49-F238E27FC236}">
                <a16:creationId xmlns:a16="http://schemas.microsoft.com/office/drawing/2014/main" id="{996A032C-7D1D-FC5E-ECDB-0E7EB8188FE5}"/>
              </a:ext>
            </a:extLst>
          </p:cNvPr>
          <p:cNvSpPr>
            <a:spLocks noGrp="1"/>
          </p:cNvSpPr>
          <p:nvPr>
            <p:ph idx="1"/>
          </p:nvPr>
        </p:nvSpPr>
        <p:spPr/>
        <p:txBody>
          <a:bodyPr/>
          <a:lstStyle/>
          <a:p>
            <a:r>
              <a:rPr lang="en-US" dirty="0"/>
              <a:t>Stateless: </a:t>
            </a:r>
            <a:r>
              <a:rPr lang="en-US" sz="1600" dirty="0"/>
              <a:t>Each request from the client to the server must contain all the necessary information. The server does not store any session information.</a:t>
            </a:r>
          </a:p>
          <a:p>
            <a:r>
              <a:rPr lang="en-US" dirty="0"/>
              <a:t>Client-Server Architecture: </a:t>
            </a:r>
            <a:r>
              <a:rPr lang="en-US" sz="1600" dirty="0"/>
              <a:t>The client and server operate independently. The client only handles the user interface, while server handles data processing and storage.</a:t>
            </a:r>
            <a:endParaRPr lang="en-US" dirty="0"/>
          </a:p>
          <a:p>
            <a:r>
              <a:rPr lang="en-US" dirty="0"/>
              <a:t>Uniform Interface: </a:t>
            </a:r>
            <a:r>
              <a:rPr lang="en-US" sz="1600" dirty="0"/>
              <a:t>Resources are accessed via consistent, predictable URIs </a:t>
            </a:r>
            <a:endParaRPr lang="en-US" dirty="0"/>
          </a:p>
          <a:p>
            <a:r>
              <a:rPr lang="en-US" dirty="0"/>
              <a:t>Use of HTTP methods: </a:t>
            </a:r>
            <a:r>
              <a:rPr lang="en-US" sz="1600" dirty="0"/>
              <a:t>GET, POST,PUT, DELETE</a:t>
            </a:r>
          </a:p>
          <a:p>
            <a:r>
              <a:rPr lang="en-US" dirty="0" err="1"/>
              <a:t>Resource-Based:</a:t>
            </a:r>
            <a:r>
              <a:rPr lang="en-US" sz="1600" dirty="0" err="1"/>
              <a:t>Everything</a:t>
            </a:r>
            <a:r>
              <a:rPr lang="en-US" sz="1600" dirty="0"/>
              <a:t> is treated as a resource, represented in JSON or XML format</a:t>
            </a:r>
            <a:endParaRPr lang="en-US" dirty="0"/>
          </a:p>
          <a:p>
            <a:r>
              <a:rPr lang="en-US" dirty="0"/>
              <a:t>Stateless Communication: </a:t>
            </a:r>
            <a:r>
              <a:rPr lang="en-US" sz="1600" dirty="0"/>
              <a:t>No client context is stored on the server between requests.</a:t>
            </a:r>
            <a:endParaRPr lang="en-US" dirty="0"/>
          </a:p>
          <a:p>
            <a:endParaRPr lang="en-IN" dirty="0"/>
          </a:p>
        </p:txBody>
      </p:sp>
    </p:spTree>
    <p:extLst>
      <p:ext uri="{BB962C8B-B14F-4D97-AF65-F5344CB8AC3E}">
        <p14:creationId xmlns:p14="http://schemas.microsoft.com/office/powerpoint/2010/main" val="6081361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80FDD-62BB-9D61-A601-251C34866D34}"/>
              </a:ext>
            </a:extLst>
          </p:cNvPr>
          <p:cNvSpPr>
            <a:spLocks noGrp="1"/>
          </p:cNvSpPr>
          <p:nvPr>
            <p:ph type="title"/>
          </p:nvPr>
        </p:nvSpPr>
        <p:spPr>
          <a:xfrm>
            <a:off x="838200" y="365125"/>
            <a:ext cx="10515600" cy="787019"/>
          </a:xfrm>
        </p:spPr>
        <p:txBody>
          <a:bodyPr/>
          <a:lstStyle/>
          <a:p>
            <a:pPr algn="ctr"/>
            <a:r>
              <a:rPr lang="en-US" dirty="0"/>
              <a:t>Why Python &amp; Flask in Restful API</a:t>
            </a:r>
            <a:endParaRPr lang="en-IN" dirty="0"/>
          </a:p>
        </p:txBody>
      </p:sp>
      <p:sp>
        <p:nvSpPr>
          <p:cNvPr id="3" name="Content Placeholder 2">
            <a:extLst>
              <a:ext uri="{FF2B5EF4-FFF2-40B4-BE49-F238E27FC236}">
                <a16:creationId xmlns:a16="http://schemas.microsoft.com/office/drawing/2014/main" id="{0A1ABC07-59CF-C87E-A6B3-2DCF1FE0D1C2}"/>
              </a:ext>
            </a:extLst>
          </p:cNvPr>
          <p:cNvSpPr>
            <a:spLocks noGrp="1"/>
          </p:cNvSpPr>
          <p:nvPr>
            <p:ph idx="1"/>
          </p:nvPr>
        </p:nvSpPr>
        <p:spPr>
          <a:xfrm>
            <a:off x="838200" y="1152144"/>
            <a:ext cx="10747248" cy="5024819"/>
          </a:xfrm>
        </p:spPr>
        <p:txBody>
          <a:bodyPr>
            <a:normAutofit/>
          </a:bodyPr>
          <a:lstStyle/>
          <a:p>
            <a:r>
              <a:rPr lang="en-US" sz="2000" dirty="0"/>
              <a:t>Large Standard Library &amp; Ecosystem: </a:t>
            </a:r>
          </a:p>
          <a:p>
            <a:pPr lvl="1"/>
            <a:r>
              <a:rPr lang="en-US" sz="1600" dirty="0"/>
              <a:t>Python has a vast range of libraries and tools that spread up development.(</a:t>
            </a:r>
            <a:r>
              <a:rPr lang="en-US" sz="1600" dirty="0" err="1"/>
              <a:t>requests,json,sqlalchemy</a:t>
            </a:r>
            <a:r>
              <a:rPr lang="en-US" sz="1600" dirty="0"/>
              <a:t>)</a:t>
            </a:r>
          </a:p>
          <a:p>
            <a:r>
              <a:rPr lang="en-US" sz="2000" dirty="0"/>
              <a:t>Cross-platform &amp; Versatile:</a:t>
            </a:r>
          </a:p>
          <a:p>
            <a:pPr lvl="1"/>
            <a:r>
              <a:rPr lang="en-US" sz="1600" dirty="0"/>
              <a:t>Python runs on all major platforms and is widely used in web development, data science, automation and more</a:t>
            </a:r>
          </a:p>
          <a:p>
            <a:r>
              <a:rPr lang="en-US" sz="2000" dirty="0"/>
              <a:t>Lightweight &amp; Minimalist:</a:t>
            </a:r>
          </a:p>
          <a:p>
            <a:pPr lvl="1"/>
            <a:r>
              <a:rPr lang="en-US" sz="1600" dirty="0"/>
              <a:t>Flask is micro-framework. It doesn’t force a particular project structure giving you full control over your application</a:t>
            </a:r>
          </a:p>
          <a:p>
            <a:r>
              <a:rPr lang="en-US" sz="2000" dirty="0"/>
              <a:t>Easy to Build REST APIs:</a:t>
            </a:r>
          </a:p>
          <a:p>
            <a:pPr lvl="1"/>
            <a:r>
              <a:rPr lang="en-US" sz="1600" dirty="0"/>
              <a:t>With Flask’s simple routing and HTTP method calling, you can build REST endpoints quickly with minimal code.</a:t>
            </a:r>
          </a:p>
          <a:p>
            <a:r>
              <a:rPr lang="en-US" sz="2000" dirty="0"/>
              <a:t>Extensible:</a:t>
            </a:r>
          </a:p>
          <a:p>
            <a:pPr lvl="1"/>
            <a:r>
              <a:rPr lang="en-US" sz="1600" dirty="0"/>
              <a:t>Flask supports plugins and extensions(</a:t>
            </a:r>
            <a:r>
              <a:rPr lang="en-US" sz="1600" dirty="0" err="1"/>
              <a:t>eg</a:t>
            </a:r>
            <a:r>
              <a:rPr lang="en-US" sz="1600" dirty="0"/>
              <a:t>: for authentication, databases, CORS </a:t>
            </a:r>
            <a:r>
              <a:rPr lang="en-US" sz="1600" dirty="0" err="1"/>
              <a:t>etc</a:t>
            </a:r>
            <a:r>
              <a:rPr lang="en-US" sz="1600" dirty="0"/>
              <a:t>)</a:t>
            </a:r>
          </a:p>
          <a:p>
            <a:r>
              <a:rPr lang="en-US" sz="2000" dirty="0"/>
              <a:t>Built-in Development Server &amp; Debugger:</a:t>
            </a:r>
          </a:p>
          <a:p>
            <a:pPr lvl="1"/>
            <a:r>
              <a:rPr lang="en-US" sz="1600" dirty="0"/>
              <a:t>Flask comes with tools that make development and testing easy and fast</a:t>
            </a:r>
          </a:p>
          <a:p>
            <a:r>
              <a:rPr lang="en-US" sz="2000" dirty="0"/>
              <a:t>Popular in Prototypes and Production:</a:t>
            </a:r>
          </a:p>
          <a:p>
            <a:pPr lvl="1"/>
            <a:r>
              <a:rPr lang="en-US" sz="1600" dirty="0"/>
              <a:t>Flask is used both for quick MVPs and in production by companies like Netflix, Reddit and Lyft.</a:t>
            </a:r>
            <a:endParaRPr lang="en-IN" sz="1600" dirty="0"/>
          </a:p>
        </p:txBody>
      </p:sp>
    </p:spTree>
    <p:extLst>
      <p:ext uri="{BB962C8B-B14F-4D97-AF65-F5344CB8AC3E}">
        <p14:creationId xmlns:p14="http://schemas.microsoft.com/office/powerpoint/2010/main" val="28162863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F3F05-C6B5-BDFD-2A85-1C503B0C6930}"/>
              </a:ext>
            </a:extLst>
          </p:cNvPr>
          <p:cNvSpPr>
            <a:spLocks noGrp="1"/>
          </p:cNvSpPr>
          <p:nvPr>
            <p:ph type="title"/>
          </p:nvPr>
        </p:nvSpPr>
        <p:spPr>
          <a:xfrm>
            <a:off x="838200" y="365125"/>
            <a:ext cx="10515600" cy="713867"/>
          </a:xfrm>
        </p:spPr>
        <p:txBody>
          <a:bodyPr/>
          <a:lstStyle/>
          <a:p>
            <a:r>
              <a:rPr lang="en-US" dirty="0"/>
              <a:t>Questions?</a:t>
            </a:r>
            <a:endParaRPr lang="en-IN" dirty="0"/>
          </a:p>
        </p:txBody>
      </p:sp>
      <p:sp>
        <p:nvSpPr>
          <p:cNvPr id="3" name="Content Placeholder 2">
            <a:extLst>
              <a:ext uri="{FF2B5EF4-FFF2-40B4-BE49-F238E27FC236}">
                <a16:creationId xmlns:a16="http://schemas.microsoft.com/office/drawing/2014/main" id="{4BE828EB-F048-855D-9958-DEE54D4319CE}"/>
              </a:ext>
            </a:extLst>
          </p:cNvPr>
          <p:cNvSpPr>
            <a:spLocks noGrp="1"/>
          </p:cNvSpPr>
          <p:nvPr>
            <p:ph idx="1"/>
          </p:nvPr>
        </p:nvSpPr>
        <p:spPr>
          <a:xfrm>
            <a:off x="838200" y="1078992"/>
            <a:ext cx="10515600" cy="5097971"/>
          </a:xfrm>
        </p:spPr>
        <p:txBody>
          <a:bodyPr>
            <a:normAutofit/>
          </a:bodyPr>
          <a:lstStyle/>
          <a:p>
            <a:r>
              <a:rPr lang="en-US" sz="2000" dirty="0"/>
              <a:t>Scalability in terms of </a:t>
            </a:r>
            <a:r>
              <a:rPr lang="en-US" sz="2000" dirty="0" err="1"/>
              <a:t>RestAPI</a:t>
            </a:r>
            <a:endParaRPr lang="en-US" sz="2000" dirty="0"/>
          </a:p>
          <a:p>
            <a:r>
              <a:rPr lang="en-US" sz="2000" dirty="0"/>
              <a:t>How effectively can we create model in Image-based API using API built from python or flask?</a:t>
            </a:r>
          </a:p>
          <a:p>
            <a:r>
              <a:rPr lang="en-US" sz="2000" dirty="0"/>
              <a:t>Flask or </a:t>
            </a:r>
            <a:r>
              <a:rPr lang="en-US" sz="2000" dirty="0" err="1"/>
              <a:t>FastAPI</a:t>
            </a:r>
            <a:endParaRPr lang="en-US" sz="2000" dirty="0"/>
          </a:p>
          <a:p>
            <a:r>
              <a:rPr lang="en-US" sz="2000" dirty="0" err="1"/>
              <a:t>FastAPI</a:t>
            </a:r>
            <a:r>
              <a:rPr lang="en-US" sz="2000" dirty="0"/>
              <a:t> Vs RESTAPI</a:t>
            </a:r>
          </a:p>
          <a:p>
            <a:r>
              <a:rPr lang="en-US" sz="2000" dirty="0"/>
              <a:t>Flask is better than Python</a:t>
            </a:r>
            <a:endParaRPr lang="en-IN" sz="2000" dirty="0"/>
          </a:p>
        </p:txBody>
      </p:sp>
    </p:spTree>
    <p:extLst>
      <p:ext uri="{BB962C8B-B14F-4D97-AF65-F5344CB8AC3E}">
        <p14:creationId xmlns:p14="http://schemas.microsoft.com/office/powerpoint/2010/main" val="32110034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A0F09-8335-EA96-34DC-FF59BE66158E}"/>
              </a:ext>
            </a:extLst>
          </p:cNvPr>
          <p:cNvSpPr>
            <a:spLocks noGrp="1"/>
          </p:cNvSpPr>
          <p:nvPr>
            <p:ph type="title"/>
          </p:nvPr>
        </p:nvSpPr>
        <p:spPr/>
        <p:txBody>
          <a:bodyPr>
            <a:normAutofit/>
          </a:bodyPr>
          <a:lstStyle/>
          <a:p>
            <a:r>
              <a:rPr lang="en-US" sz="3200" dirty="0"/>
              <a:t>Build a prototype of Real Time Project using </a:t>
            </a:r>
            <a:r>
              <a:rPr lang="en-US" sz="3200" dirty="0" err="1"/>
              <a:t>RestAPI</a:t>
            </a:r>
            <a:endParaRPr lang="en-IN" sz="3200" dirty="0"/>
          </a:p>
        </p:txBody>
      </p:sp>
      <p:sp>
        <p:nvSpPr>
          <p:cNvPr id="3" name="Content Placeholder 2">
            <a:extLst>
              <a:ext uri="{FF2B5EF4-FFF2-40B4-BE49-F238E27FC236}">
                <a16:creationId xmlns:a16="http://schemas.microsoft.com/office/drawing/2014/main" id="{D4BF6C73-1D79-63D4-A7BC-81DCF2652845}"/>
              </a:ext>
            </a:extLst>
          </p:cNvPr>
          <p:cNvSpPr>
            <a:spLocks noGrp="1"/>
          </p:cNvSpPr>
          <p:nvPr>
            <p:ph idx="1"/>
          </p:nvPr>
        </p:nvSpPr>
        <p:spPr/>
        <p:txBody>
          <a:bodyPr/>
          <a:lstStyle/>
          <a:p>
            <a:r>
              <a:rPr lang="en-US" dirty="0"/>
              <a:t>Employee Directory</a:t>
            </a:r>
          </a:p>
          <a:p>
            <a:pPr lvl="1"/>
            <a:r>
              <a:rPr lang="en-US" dirty="0"/>
              <a:t>Features:</a:t>
            </a:r>
          </a:p>
          <a:p>
            <a:pPr lvl="2"/>
            <a:r>
              <a:rPr lang="en-US" dirty="0"/>
              <a:t>CRUD Operations</a:t>
            </a:r>
          </a:p>
          <a:p>
            <a:pPr lvl="2"/>
            <a:r>
              <a:rPr lang="en-US" dirty="0"/>
              <a:t>Data Validation</a:t>
            </a:r>
          </a:p>
          <a:p>
            <a:pPr lvl="2"/>
            <a:r>
              <a:rPr lang="en-US" dirty="0"/>
              <a:t>Error Handling</a:t>
            </a:r>
          </a:p>
          <a:p>
            <a:pPr marL="0" indent="0">
              <a:buNone/>
            </a:pPr>
            <a:endParaRPr lang="en-IN" dirty="0"/>
          </a:p>
        </p:txBody>
      </p:sp>
    </p:spTree>
    <p:extLst>
      <p:ext uri="{BB962C8B-B14F-4D97-AF65-F5344CB8AC3E}">
        <p14:creationId xmlns:p14="http://schemas.microsoft.com/office/powerpoint/2010/main" val="19428093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BA3D8-AAED-AECF-5389-70070E1828E0}"/>
              </a:ext>
            </a:extLst>
          </p:cNvPr>
          <p:cNvSpPr>
            <a:spLocks noGrp="1"/>
          </p:cNvSpPr>
          <p:nvPr>
            <p:ph type="title"/>
          </p:nvPr>
        </p:nvSpPr>
        <p:spPr>
          <a:xfrm>
            <a:off x="761840" y="1138265"/>
            <a:ext cx="4544762" cy="1401183"/>
          </a:xfrm>
        </p:spPr>
        <p:txBody>
          <a:bodyPr vert="horz" lIns="91440" tIns="45720" rIns="91440" bIns="45720" rtlCol="0" anchor="t">
            <a:normAutofit/>
          </a:bodyPr>
          <a:lstStyle/>
          <a:p>
            <a:r>
              <a:rPr lang="en-US" sz="3200" kern="1200">
                <a:solidFill>
                  <a:schemeClr val="tx1"/>
                </a:solidFill>
                <a:latin typeface="+mj-lt"/>
                <a:ea typeface="+mj-ea"/>
                <a:cs typeface="+mj-cs"/>
              </a:rPr>
              <a:t>Application Architecture</a:t>
            </a:r>
          </a:p>
        </p:txBody>
      </p:sp>
      <p:cxnSp>
        <p:nvCxnSpPr>
          <p:cNvPr id="11" name="Straight Connector 10">
            <a:extLst>
              <a:ext uri="{FF2B5EF4-FFF2-40B4-BE49-F238E27FC236}">
                <a16:creationId xmlns:a16="http://schemas.microsoft.com/office/drawing/2014/main" id="{FC23E3B9-5ABF-58B3-E2B0-E9A5DAA900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1462"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F2E9353-1AE3-C2DD-1840-A7EE0AE9DF5B}"/>
              </a:ext>
            </a:extLst>
          </p:cNvPr>
          <p:cNvSpPr>
            <a:spLocks noGrp="1"/>
          </p:cNvSpPr>
          <p:nvPr>
            <p:ph sz="half" idx="1"/>
          </p:nvPr>
        </p:nvSpPr>
        <p:spPr>
          <a:xfrm>
            <a:off x="761840" y="1792224"/>
            <a:ext cx="4544762" cy="4361887"/>
          </a:xfrm>
        </p:spPr>
        <p:txBody>
          <a:bodyPr vert="horz" lIns="91440" tIns="45720" rIns="91440" bIns="45720" rtlCol="0">
            <a:normAutofit lnSpcReduction="10000"/>
          </a:bodyPr>
          <a:lstStyle/>
          <a:p>
            <a:pPr marL="0"/>
            <a:r>
              <a:rPr lang="en-US" sz="2400" dirty="0"/>
              <a:t>Overview: </a:t>
            </a:r>
          </a:p>
          <a:p>
            <a:pPr marL="0"/>
            <a:r>
              <a:rPr lang="en-US" sz="2400" dirty="0"/>
              <a:t>This application allow to perform all CRUD operations as below:</a:t>
            </a:r>
          </a:p>
          <a:p>
            <a:pPr marL="457200" lvl="1"/>
            <a:r>
              <a:rPr lang="en-US" dirty="0"/>
              <a:t>Save the employee details</a:t>
            </a:r>
          </a:p>
          <a:p>
            <a:pPr marL="457200" lvl="1"/>
            <a:r>
              <a:rPr lang="en-US" dirty="0"/>
              <a:t>Retrieve the employee and employee details</a:t>
            </a:r>
          </a:p>
          <a:p>
            <a:pPr marL="457200" lvl="1"/>
            <a:r>
              <a:rPr lang="en-US" dirty="0"/>
              <a:t>Update the employee details</a:t>
            </a:r>
          </a:p>
          <a:p>
            <a:pPr marL="457200" lvl="1"/>
            <a:r>
              <a:rPr lang="en-US" dirty="0"/>
              <a:t>Delete the employee details</a:t>
            </a:r>
          </a:p>
          <a:p>
            <a:pPr marL="457200" lvl="1"/>
            <a:endParaRPr lang="en-US" dirty="0"/>
          </a:p>
          <a:p>
            <a:pPr marL="228600" lvl="1" indent="0">
              <a:buNone/>
            </a:pPr>
            <a:r>
              <a:rPr lang="en-US" dirty="0"/>
              <a:t>NOTE: SQLite database is used.</a:t>
            </a:r>
          </a:p>
          <a:p>
            <a:endParaRPr lang="en-US" sz="2400" dirty="0"/>
          </a:p>
        </p:txBody>
      </p:sp>
      <p:pic>
        <p:nvPicPr>
          <p:cNvPr id="6" name="Content Placeholder 5" descr="A screen shot of a computer&#10;&#10;AI-generated content may be incorrect.">
            <a:extLst>
              <a:ext uri="{FF2B5EF4-FFF2-40B4-BE49-F238E27FC236}">
                <a16:creationId xmlns:a16="http://schemas.microsoft.com/office/drawing/2014/main" id="{F7672623-0370-59A6-7D50-9399BE91EDA3}"/>
              </a:ext>
            </a:extLst>
          </p:cNvPr>
          <p:cNvPicPr>
            <a:picLocks noGrp="1" noChangeAspect="1"/>
          </p:cNvPicPr>
          <p:nvPr>
            <p:ph sz="half" idx="2"/>
          </p:nvPr>
        </p:nvPicPr>
        <p:blipFill>
          <a:blip r:embed="rId2"/>
          <a:stretch>
            <a:fillRect/>
          </a:stretch>
        </p:blipFill>
        <p:spPr>
          <a:xfrm>
            <a:off x="6082748" y="1504800"/>
            <a:ext cx="5334160" cy="3850001"/>
          </a:xfrm>
          <a:prstGeom prst="rect">
            <a:avLst/>
          </a:prstGeom>
        </p:spPr>
      </p:pic>
    </p:spTree>
    <p:extLst>
      <p:ext uri="{BB962C8B-B14F-4D97-AF65-F5344CB8AC3E}">
        <p14:creationId xmlns:p14="http://schemas.microsoft.com/office/powerpoint/2010/main" val="36619265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FE96A-462F-6B8E-5DE1-0AACE95A7EA6}"/>
              </a:ext>
            </a:extLst>
          </p:cNvPr>
          <p:cNvSpPr>
            <a:spLocks noGrp="1"/>
          </p:cNvSpPr>
          <p:nvPr>
            <p:ph type="title"/>
          </p:nvPr>
        </p:nvSpPr>
        <p:spPr>
          <a:xfrm>
            <a:off x="838200" y="365125"/>
            <a:ext cx="10515600" cy="631571"/>
          </a:xfrm>
        </p:spPr>
        <p:txBody>
          <a:bodyPr>
            <a:normAutofit fontScale="90000"/>
          </a:bodyPr>
          <a:lstStyle/>
          <a:p>
            <a:r>
              <a:rPr lang="en-US" dirty="0"/>
              <a:t>Setting up Environment</a:t>
            </a:r>
            <a:endParaRPr lang="en-IN" dirty="0"/>
          </a:p>
        </p:txBody>
      </p:sp>
      <p:sp>
        <p:nvSpPr>
          <p:cNvPr id="3" name="Content Placeholder 2">
            <a:extLst>
              <a:ext uri="{FF2B5EF4-FFF2-40B4-BE49-F238E27FC236}">
                <a16:creationId xmlns:a16="http://schemas.microsoft.com/office/drawing/2014/main" id="{2E9761F8-E19F-AE98-A1BF-20F724C084EF}"/>
              </a:ext>
            </a:extLst>
          </p:cNvPr>
          <p:cNvSpPr>
            <a:spLocks noGrp="1"/>
          </p:cNvSpPr>
          <p:nvPr>
            <p:ph idx="1"/>
          </p:nvPr>
        </p:nvSpPr>
        <p:spPr>
          <a:xfrm>
            <a:off x="838200" y="1325880"/>
            <a:ext cx="10515600" cy="4851083"/>
          </a:xfrm>
        </p:spPr>
        <p:txBody>
          <a:bodyPr/>
          <a:lstStyle/>
          <a:p>
            <a:pPr marL="0" indent="0">
              <a:buNone/>
            </a:pPr>
            <a:r>
              <a:rPr lang="en-US" dirty="0"/>
              <a:t>Software/Tools Needed:</a:t>
            </a:r>
          </a:p>
          <a:p>
            <a:r>
              <a:rPr lang="en-US" dirty="0"/>
              <a:t>Python with version 3.x installed</a:t>
            </a:r>
          </a:p>
          <a:p>
            <a:r>
              <a:rPr lang="en-US" dirty="0"/>
              <a:t>Install </a:t>
            </a:r>
            <a:r>
              <a:rPr lang="en-US" dirty="0" err="1"/>
              <a:t>virtualenv</a:t>
            </a:r>
            <a:r>
              <a:rPr lang="en-US" dirty="0"/>
              <a:t> through pip(pip install </a:t>
            </a:r>
            <a:r>
              <a:rPr lang="en-US"/>
              <a:t>virtualenv)</a:t>
            </a:r>
            <a:endParaRPr lang="en-US" dirty="0"/>
          </a:p>
          <a:p>
            <a:r>
              <a:rPr lang="en-US" dirty="0"/>
              <a:t>Postman to test the APIs</a:t>
            </a:r>
          </a:p>
          <a:p>
            <a:r>
              <a:rPr lang="en-US" dirty="0"/>
              <a:t>Any IDEs that support python extension(</a:t>
            </a:r>
            <a:r>
              <a:rPr lang="en-US" dirty="0" err="1"/>
              <a:t>eg:pycharm</a:t>
            </a:r>
            <a:r>
              <a:rPr lang="en-US" dirty="0"/>
              <a:t>)</a:t>
            </a:r>
          </a:p>
          <a:p>
            <a:pPr marL="0" indent="0">
              <a:buNone/>
            </a:pPr>
            <a:r>
              <a:rPr lang="en-US" dirty="0"/>
              <a:t>Install the packages:</a:t>
            </a:r>
          </a:p>
          <a:p>
            <a:r>
              <a:rPr lang="en-US" dirty="0"/>
              <a:t>Pip install flask</a:t>
            </a:r>
          </a:p>
          <a:p>
            <a:r>
              <a:rPr lang="en-US" dirty="0"/>
              <a:t>Pip freeze &gt; requirements.txt</a:t>
            </a:r>
            <a:endParaRPr lang="en-IN" dirty="0"/>
          </a:p>
        </p:txBody>
      </p:sp>
    </p:spTree>
    <p:extLst>
      <p:ext uri="{BB962C8B-B14F-4D97-AF65-F5344CB8AC3E}">
        <p14:creationId xmlns:p14="http://schemas.microsoft.com/office/powerpoint/2010/main" val="30899742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E97135-514D-0F79-17DE-467D54C6CDED}"/>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Endpoints Template</a:t>
            </a:r>
          </a:p>
        </p:txBody>
      </p:sp>
      <p:pic>
        <p:nvPicPr>
          <p:cNvPr id="5" name="Content Placeholder 4" descr="A screenshot of a computer&#10;&#10;AI-generated content may be incorrect.">
            <a:extLst>
              <a:ext uri="{FF2B5EF4-FFF2-40B4-BE49-F238E27FC236}">
                <a16:creationId xmlns:a16="http://schemas.microsoft.com/office/drawing/2014/main" id="{D4528599-622B-D530-E0D9-40A60E7965B0}"/>
              </a:ext>
            </a:extLst>
          </p:cNvPr>
          <p:cNvPicPr>
            <a:picLocks noGrp="1" noChangeAspect="1"/>
          </p:cNvPicPr>
          <p:nvPr>
            <p:ph idx="1"/>
          </p:nvPr>
        </p:nvPicPr>
        <p:blipFill>
          <a:blip r:embed="rId2"/>
          <a:stretch>
            <a:fillRect/>
          </a:stretch>
        </p:blipFill>
        <p:spPr>
          <a:xfrm>
            <a:off x="643467" y="1909415"/>
            <a:ext cx="10905066" cy="3925823"/>
          </a:xfrm>
          <a:prstGeom prst="rect">
            <a:avLst/>
          </a:prstGeom>
        </p:spPr>
      </p:pic>
    </p:spTree>
    <p:extLst>
      <p:ext uri="{BB962C8B-B14F-4D97-AF65-F5344CB8AC3E}">
        <p14:creationId xmlns:p14="http://schemas.microsoft.com/office/powerpoint/2010/main" val="17585328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3A44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360AF2-7920-4879-90F1-D08B6FBBF138}"/>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Error Codes:</a:t>
            </a:r>
          </a:p>
        </p:txBody>
      </p:sp>
      <p:pic>
        <p:nvPicPr>
          <p:cNvPr id="1026" name="Picture 2" descr="A screen shot of a computer screen&#10;&#10;AI-generated content may be incorrect.">
            <a:extLst>
              <a:ext uri="{FF2B5EF4-FFF2-40B4-BE49-F238E27FC236}">
                <a16:creationId xmlns:a16="http://schemas.microsoft.com/office/drawing/2014/main" id="{FBD79226-99FC-DF0A-6E70-628CCFFB34C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038600" y="1555138"/>
            <a:ext cx="7188199" cy="37443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02094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259</TotalTime>
  <Words>526</Words>
  <Application>Microsoft Office PowerPoint</Application>
  <PresentationFormat>Widescreen</PresentationFormat>
  <Paragraphs>76</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Arial</vt:lpstr>
      <vt:lpstr>Verdana</vt:lpstr>
      <vt:lpstr>Office Theme</vt:lpstr>
      <vt:lpstr>Building REST APIs with  Python &amp; Flask</vt:lpstr>
      <vt:lpstr>Overview</vt:lpstr>
      <vt:lpstr>What is Restful API</vt:lpstr>
      <vt:lpstr>Features of Restful API</vt:lpstr>
      <vt:lpstr>Why Python &amp; Flask in Restful API</vt:lpstr>
      <vt:lpstr>Questions?</vt:lpstr>
      <vt:lpstr>Build a prototype of Real Time Project using RestAPI</vt:lpstr>
      <vt:lpstr>Application Architecture</vt:lpstr>
      <vt:lpstr>Setting up Environment</vt:lpstr>
      <vt:lpstr>Endpoints Template</vt:lpstr>
      <vt:lpstr>Error Codes: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Kumar P, Seravana</dc:creator>
  <cp:lastModifiedBy>Kumar P, Seravana</cp:lastModifiedBy>
  <cp:revision>38</cp:revision>
  <dcterms:created xsi:type="dcterms:W3CDTF">2025-07-03T05:47:18Z</dcterms:created>
  <dcterms:modified xsi:type="dcterms:W3CDTF">2025-07-05T06:21:17Z</dcterms:modified>
</cp:coreProperties>
</file>